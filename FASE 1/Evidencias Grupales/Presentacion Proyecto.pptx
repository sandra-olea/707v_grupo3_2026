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60" r:id="rId5"/>
    <p:sldId id="269" r:id="rId6"/>
    <p:sldId id="259" r:id="rId7"/>
    <p:sldId id="287" r:id="rId8"/>
    <p:sldId id="261" r:id="rId9"/>
    <p:sldId id="288" r:id="rId10"/>
    <p:sldId id="278" r:id="rId11"/>
    <p:sldId id="279" r:id="rId12"/>
    <p:sldId id="276" r:id="rId13"/>
    <p:sldId id="286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632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8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789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738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27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701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55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01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732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699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8796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40A3-26B0-41B9-8D0E-A6E2BE76A0F6}" type="datetimeFigureOut">
              <a:rPr lang="es-CL" smtClean="0"/>
              <a:t>09-09-2026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20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</p:spPr>
        <p:txBody>
          <a:bodyPr wrap="square" anchor="b">
            <a:norm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5400" dirty="0"/>
              <a:t>Presentación </a:t>
            </a:r>
            <a:r>
              <a:rPr sz="5400" dirty="0" err="1"/>
              <a:t>Portafolio</a:t>
            </a:r>
            <a:r>
              <a:rPr sz="5400" dirty="0"/>
              <a:t> de </a:t>
            </a:r>
            <a:r>
              <a:rPr sz="5400" dirty="0" err="1"/>
              <a:t>Título</a:t>
            </a:r>
            <a:endParaRPr sz="5400" dirty="0"/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0" dirty="0" err="1">
                <a:solidFill>
                  <a:srgbClr val="333333"/>
                </a:solidFill>
              </a:rPr>
              <a:t>Quori</a:t>
            </a:r>
            <a:r>
              <a:rPr sz="1900" b="0" dirty="0">
                <a:solidFill>
                  <a:srgbClr val="333333"/>
                </a:solidFill>
              </a:rPr>
              <a:t> — Plataforma de </a:t>
            </a:r>
            <a:r>
              <a:rPr sz="1900" b="0" dirty="0" err="1">
                <a:solidFill>
                  <a:srgbClr val="333333"/>
                </a:solidFill>
              </a:rPr>
              <a:t>gestión</a:t>
            </a:r>
            <a:r>
              <a:rPr sz="1900" b="0" dirty="0">
                <a:solidFill>
                  <a:srgbClr val="333333"/>
                </a:solidFill>
              </a:rPr>
              <a:t> para </a:t>
            </a:r>
            <a:r>
              <a:rPr sz="1900" b="0" dirty="0" err="1">
                <a:solidFill>
                  <a:srgbClr val="333333"/>
                </a:solidFill>
              </a:rPr>
              <a:t>negocios</a:t>
            </a:r>
            <a:r>
              <a:rPr sz="1900" b="0" dirty="0">
                <a:solidFill>
                  <a:srgbClr val="333333"/>
                </a:solidFill>
              </a:rPr>
              <a:t> de </a:t>
            </a:r>
            <a:r>
              <a:rPr sz="1900" b="0" dirty="0" err="1">
                <a:solidFill>
                  <a:srgbClr val="333333"/>
                </a:solidFill>
              </a:rPr>
              <a:t>atención</a:t>
            </a:r>
            <a:r>
              <a:rPr sz="1900" b="0" dirty="0">
                <a:solidFill>
                  <a:srgbClr val="333333"/>
                </a:solidFill>
              </a:rPr>
              <a:t> </a:t>
            </a:r>
            <a:r>
              <a:rPr sz="1900" b="0" dirty="0" err="1">
                <a:solidFill>
                  <a:srgbClr val="333333"/>
                </a:solidFill>
              </a:rPr>
              <a:t>agendada</a:t>
            </a:r>
            <a:endParaRPr sz="1900" b="0" dirty="0">
              <a:solidFill>
                <a:srgbClr val="333333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</p:spPr>
        <p:txBody>
          <a:bodyPr wrap="square" anchor="t">
            <a:noAutofit/>
          </a:bodyPr>
          <a:lstStyle/>
          <a:p>
            <a:pPr>
              <a:spcAft>
                <a:spcPts val="200"/>
              </a:spcAft>
            </a:pPr>
            <a:r>
              <a:rPr sz="3200" dirty="0"/>
              <a:t>Ingeniería </a:t>
            </a:r>
            <a:r>
              <a:rPr sz="3200" dirty="0" err="1"/>
              <a:t>en</a:t>
            </a:r>
            <a:r>
              <a:rPr sz="3200" dirty="0"/>
              <a:t> </a:t>
            </a:r>
            <a:r>
              <a:rPr sz="3200" dirty="0" err="1"/>
              <a:t>Informática</a:t>
            </a:r>
            <a:endParaRPr sz="3200" dirty="0"/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333333"/>
                </a:solidFill>
              </a:rPr>
              <a:t>Escuela de </a:t>
            </a:r>
            <a:r>
              <a:rPr sz="1400" b="0" dirty="0" err="1">
                <a:solidFill>
                  <a:srgbClr val="333333"/>
                </a:solidFill>
              </a:rPr>
              <a:t>Informática</a:t>
            </a:r>
            <a:r>
              <a:rPr sz="1400" b="0" dirty="0">
                <a:solidFill>
                  <a:srgbClr val="333333"/>
                </a:solidFill>
              </a:rPr>
              <a:t> y Telecomunicaciones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dirty="0" err="1">
                <a:solidFill>
                  <a:srgbClr val="333333"/>
                </a:solidFill>
              </a:rPr>
              <a:t>Sede</a:t>
            </a:r>
            <a:r>
              <a:rPr sz="1400" b="0" dirty="0">
                <a:solidFill>
                  <a:srgbClr val="333333"/>
                </a:solidFill>
              </a:rPr>
              <a:t> Puente Alto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dirty="0">
                <a:solidFill>
                  <a:srgbClr val="333333"/>
                </a:solidFill>
              </a:rPr>
              <a:t>Equipo Rugrats Developers · Grupo 3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333333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1514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5D7939A-BC7B-E516-681B-96044152210D}"/>
              </a:ext>
            </a:extLst>
          </p:cNvPr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sp>
        <p:nvSpPr>
          <p:cNvPr id="7" name="Rounded Rectangle 6"/>
          <p:cNvSpPr/>
          <p:nvPr/>
        </p:nvSpPr>
        <p:spPr>
          <a:xfrm>
            <a:off x="4087368" y="1325880"/>
            <a:ext cx="6784848" cy="1353311"/>
          </a:xfrm>
          <a:prstGeom prst="roundRect">
            <a:avLst>
              <a:gd name="adj" fmla="val 1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59" rIns="101600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</a:rPr>
              <a:t>Melisa Quezada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DCE7F5"/>
                </a:solidFill>
              </a:rPr>
              <a:t>Jefa de Proyecto y Diseño UX/UI</a:t>
            </a:r>
          </a:p>
          <a:p>
            <a:pPr algn="l"/>
            <a:r>
              <a:rPr sz="1050">
                <a:solidFill>
                  <a:srgbClr val="E8F0FA"/>
                </a:solidFill>
              </a:rPr>
              <a:t>Planificación, coordinación e identidad visual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554480"/>
            <a:ext cx="896111" cy="896111"/>
          </a:xfrm>
          <a:prstGeom prst="roundRect">
            <a:avLst>
              <a:gd name="adj" fmla="val 22000"/>
            </a:avLst>
          </a:prstGeom>
          <a:solidFill>
            <a:srgbClr val="CFD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45A90"/>
                </a:solidFill>
              </a:rPr>
              <a:t>MQ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935223"/>
            <a:ext cx="6784848" cy="1353311"/>
          </a:xfrm>
          <a:prstGeom prst="roundRect">
            <a:avLst>
              <a:gd name="adj" fmla="val 1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59" rIns="101600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</a:rPr>
              <a:t>Erick Paredes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DCE7F5"/>
                </a:solidFill>
              </a:rPr>
              <a:t>Analista Programador y Base de Datos</a:t>
            </a:r>
          </a:p>
          <a:p>
            <a:pPr algn="l"/>
            <a:r>
              <a:rPr sz="1050">
                <a:solidFill>
                  <a:srgbClr val="E8F0FA"/>
                </a:solidFill>
              </a:rPr>
              <a:t>Backend, API REST, frontend y modelo de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163823"/>
            <a:ext cx="896111" cy="896111"/>
          </a:xfrm>
          <a:prstGeom prst="roundRect">
            <a:avLst>
              <a:gd name="adj" fmla="val 22000"/>
            </a:avLst>
          </a:prstGeom>
          <a:solidFill>
            <a:srgbClr val="CFD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45A90"/>
                </a:solidFill>
              </a:rPr>
              <a:t>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4544566"/>
            <a:ext cx="6784848" cy="1353311"/>
          </a:xfrm>
          <a:prstGeom prst="roundRect">
            <a:avLst>
              <a:gd name="adj" fmla="val 10000"/>
            </a:avLst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59" rIns="101600"/>
          <a:lstStyle/>
          <a:p>
            <a:pPr algn="l"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</a:rPr>
              <a:t>Cristian Bernal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DCE7F5"/>
                </a:solidFill>
              </a:rPr>
              <a:t>Aseguramiento de Calidad y Programador</a:t>
            </a:r>
          </a:p>
          <a:p>
            <a:pPr algn="l"/>
            <a:r>
              <a:rPr sz="1050">
                <a:solidFill>
                  <a:srgbClr val="E8F0FA"/>
                </a:solidFill>
              </a:rPr>
              <a:t>Pruebas funcionales/seguridad y apoyo en desarrollo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773166"/>
            <a:ext cx="896111" cy="896111"/>
          </a:xfrm>
          <a:prstGeom prst="roundRect">
            <a:avLst>
              <a:gd name="adj" fmla="val 22000"/>
            </a:avLst>
          </a:prstGeom>
          <a:solidFill>
            <a:srgbClr val="CFD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45A90"/>
                </a:solidFill>
              </a:rPr>
              <a:t>CB</a:t>
            </a:r>
          </a:p>
        </p:txBody>
      </p:sp>
    </p:spTree>
    <p:extLst>
      <p:ext uri="{BB962C8B-B14F-4D97-AF65-F5344CB8AC3E}">
        <p14:creationId xmlns:p14="http://schemas.microsoft.com/office/powerpoint/2010/main" val="197359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</p:spPr>
        <p:txBody>
          <a:bodyPr/>
          <a:lstStyle/>
          <a:p>
            <a:r>
              <a:rPr lang="es-CL" dirty="0"/>
              <a:t>Descripción del Proyecto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CAAA338-F429-9042-FFA7-A873477A3F80}"/>
              </a:ext>
            </a:extLst>
          </p:cNvPr>
          <p:cNvSpPr/>
          <p:nvPr/>
        </p:nvSpPr>
        <p:spPr>
          <a:xfrm>
            <a:off x="714909" y="2169769"/>
            <a:ext cx="4427360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/>
          <a:lstStyle/>
          <a:p>
            <a:pPr lvl="0"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Problemática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Los pequeños negocios de atención agendada gestionan su hora con cuadernos, planillas o mensajería: se producen choques de agenda y horas perdidas, no controlan el consumo de insumos ni conocen su rentabilidad, y sus clientes no reciben recordatorios ni pueden reservar fuera del horario de atención.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6F7A35-626F-23CE-7A47-1D8E5CBBB80B}"/>
              </a:ext>
            </a:extLst>
          </p:cNvPr>
          <p:cNvSpPr/>
          <p:nvPr/>
        </p:nvSpPr>
        <p:spPr>
          <a:xfrm>
            <a:off x="6912079" y="2177325"/>
            <a:ext cx="4641292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/>
          <a:lstStyle/>
          <a:p>
            <a:pPr lvl="0"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Propuesta de solución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Quori: una plataforma web multi-negocio y parametrizable que entrega a cada negocio un backoffice de gestión y una página pública de reservas de autoservicio, con un modelo de datos independiente del rubro (personas y espacios como un mismo recurso).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FB58451-B5D0-BDE6-FFE9-4D940E71256C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09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F1CFDA6-4B15-1117-A158-08C7A7DC2C2C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</a:rPr>
              <a:t>Desarrollar una plataforma web multi-negocio y horizontal que permita a los negocios de servicios con atención agendada gestionar su agenda, recursos, inventario, notificaciones y finanzas, y a sus clientes reservar en línea, con un modelo de datos independiente del rubro.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8ECD55C-14AF-66FA-ED98-BC5A00C9EF6C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Diseñar un modelo de datos genérico (persona y espacio como un mismo recurso).</a:t>
            </a:r>
            <a:endParaRPr lang="es-CL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Construir el motor de disponibilidad y el flujo de reservas (backoffice y página pública).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Desarrollar los módulos de configuración, inventario, notificaciones, finanzas y reportes.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Validar la solución con pruebas funcionales y con usuarios sobre negocios piloto.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79C96-AB81-4E82-DFF5-8BABB8C6C3B1}"/>
              </a:ext>
            </a:extLst>
          </p:cNvPr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A578C5-359E-EE93-4566-7B93CDA5020B}"/>
              </a:ext>
            </a:extLst>
          </p:cNvPr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292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</p:spPr>
        <p:txBody>
          <a:bodyPr/>
          <a:lstStyle/>
          <a:p>
            <a:r>
              <a:rPr lang="es-CL" dirty="0"/>
              <a:t>Alcances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14374" y="1664801"/>
            <a:ext cx="10072940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Qué hace el sistema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Gestión multi-negocio con datos aislados entre negocios.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Configuración de servicios, recursos, insumos y horarios por cada negocio.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Agenda multi-recurso con motor de disponibilidad y reservas online de autoservicio.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33333"/>
                </a:solidFill>
              </a:rPr>
              <a:t>•  Inventario asociado al consumo, notificaciones por correo, finanzas básicas y reportes.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4E79"/>
                </a:solidFill>
              </a:rPr>
              <a:t>Qué no hace (fuera del MVP)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Facturación electrónica (SII) e integración con FONASA o isapres.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Telemedicina, operación multi-sede y aplicación móvil nativa.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Pagos reales con conciliación (se usa una pasarela en modalidad sandbox).</a:t>
            </a:r>
          </a:p>
        </p:txBody>
      </p:sp>
    </p:spTree>
    <p:extLst>
      <p:ext uri="{BB962C8B-B14F-4D97-AF65-F5344CB8AC3E}">
        <p14:creationId xmlns:p14="http://schemas.microsoft.com/office/powerpoint/2010/main" val="400804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Usuarios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4629-6040-F658-DDEF-7F56A5261CFD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4E79"/>
                </a:solidFill>
              </a:rPr>
              <a:t>Administrador de Plataforma</a:t>
            </a:r>
            <a:endParaRPr lang="es-CL" dirty="0"/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Rol técnico del equipo: da de alta los negocios y administra la plataforma.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4E79"/>
                </a:solidFill>
              </a:rPr>
              <a:t>Administrador del Negocio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Dueño o encargado: configura servicios, recursos, insumos y horarios, y gestiona su operación.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4E79"/>
                </a:solidFill>
              </a:rPr>
              <a:t>Trabajador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333333"/>
                </a:solidFill>
              </a:rPr>
              <a:t>Presta los servicios: consulta su agenda y registra el cierre de las atenciones.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F4E79"/>
                </a:solidFill>
              </a:rPr>
              <a:t>Cliente Final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Reserva en línea desde la página pública y consulta sus citas.</a:t>
            </a:r>
          </a:p>
        </p:txBody>
      </p:sp>
    </p:spTree>
    <p:extLst>
      <p:ext uri="{BB962C8B-B14F-4D97-AF65-F5344CB8AC3E}">
        <p14:creationId xmlns:p14="http://schemas.microsoft.com/office/powerpoint/2010/main" val="150409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D81D5-E25F-22F7-E67C-19AB3A8EE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8FA53D1-9FB3-E887-DC95-29BBC6FB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Lista de Requerimientos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F6E5D5F-F80F-AA95-B722-76AD581ED952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39 requerimientos: 31 funcionales y 8 no funcionales, organizados en 9 módulos.</a:t>
            </a:r>
            <a:endParaRPr lang="es-CL" dirty="0"/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Autenticación y Seguridad  ·  Configuración del Negocio  ·  Agenda y Reservas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333333"/>
                </a:solidFill>
              </a:rPr>
              <a:t>•  Portal del Cliente  ·  Inventario e Insumos  ·  Notificaciones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333333"/>
                </a:solidFill>
              </a:rPr>
              <a:t>•  Finanzas y Ficha del Cliente  ·  Administración  ·  Reportes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</a:rPr>
              <a:t>Requerimientos no funcionales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Aislamiento de datos entre negocios, seguridad, rendimiento, disponibilidad, diseño responsivo, independencia del rubro, mantenibilidad y compatibilidad con navegadores.</a:t>
            </a:r>
          </a:p>
        </p:txBody>
      </p:sp>
    </p:spTree>
    <p:extLst>
      <p:ext uri="{BB962C8B-B14F-4D97-AF65-F5344CB8AC3E}">
        <p14:creationId xmlns:p14="http://schemas.microsoft.com/office/powerpoint/2010/main" val="161833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548640" y="896516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Mockups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1F4E79"/>
                </a:solidFill>
              </a:rPr>
              <a:t>Página </a:t>
            </a:r>
            <a:r>
              <a:rPr sz="1500" b="1" dirty="0" err="1">
                <a:solidFill>
                  <a:srgbClr val="1F4E79"/>
                </a:solidFill>
              </a:rPr>
              <a:t>pública</a:t>
            </a:r>
            <a:r>
              <a:rPr sz="1500" b="1" dirty="0">
                <a:solidFill>
                  <a:srgbClr val="1F4E79"/>
                </a:solidFill>
              </a:rPr>
              <a:t> de </a:t>
            </a:r>
            <a:r>
              <a:rPr sz="1500" b="1" dirty="0" err="1">
                <a:solidFill>
                  <a:srgbClr val="1F4E79"/>
                </a:solidFill>
              </a:rPr>
              <a:t>reserva</a:t>
            </a:r>
            <a:r>
              <a:rPr sz="1500" b="1" dirty="0">
                <a:solidFill>
                  <a:srgbClr val="1F4E79"/>
                </a:solidFill>
              </a:rPr>
              <a:t> — </a:t>
            </a:r>
            <a:r>
              <a:rPr sz="1500" b="1" dirty="0" err="1">
                <a:solidFill>
                  <a:srgbClr val="1F4E79"/>
                </a:solidFill>
              </a:rPr>
              <a:t>selección</a:t>
            </a:r>
            <a:r>
              <a:rPr sz="1500" b="1" dirty="0">
                <a:solidFill>
                  <a:srgbClr val="1F4E79"/>
                </a:solidFill>
              </a:rPr>
              <a:t> de </a:t>
            </a:r>
            <a:r>
              <a:rPr sz="1500" b="1" dirty="0" err="1">
                <a:solidFill>
                  <a:srgbClr val="1F4E79"/>
                </a:solidFill>
              </a:rPr>
              <a:t>servicio</a:t>
            </a:r>
            <a:r>
              <a:rPr sz="1500" b="1" dirty="0">
                <a:solidFill>
                  <a:srgbClr val="1F4E79"/>
                </a:solidFill>
              </a:rPr>
              <a:t>, </a:t>
            </a:r>
            <a:r>
              <a:rPr sz="1500" b="1" dirty="0" err="1">
                <a:solidFill>
                  <a:srgbClr val="1F4E79"/>
                </a:solidFill>
              </a:rPr>
              <a:t>fecha</a:t>
            </a:r>
            <a:r>
              <a:rPr sz="1500" b="1" dirty="0">
                <a:solidFill>
                  <a:srgbClr val="1F4E79"/>
                </a:solidFill>
              </a:rPr>
              <a:t> y hora (paleta </a:t>
            </a:r>
            <a:r>
              <a:rPr sz="1500" b="1" dirty="0" err="1">
                <a:solidFill>
                  <a:srgbClr val="1F4E79"/>
                </a:solidFill>
              </a:rPr>
              <a:t>Índigo</a:t>
            </a:r>
            <a:r>
              <a:rPr sz="1500" b="1" dirty="0">
                <a:solidFill>
                  <a:srgbClr val="1F4E79"/>
                </a:solidFill>
              </a:rPr>
              <a:t>)</a:t>
            </a:r>
            <a:endParaRPr lang="es-CL" dirty="0"/>
          </a:p>
        </p:txBody>
      </p:sp>
      <p:pic>
        <p:nvPicPr>
          <p:cNvPr id="6" name="Picture 5" descr="reser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297" y="1965960"/>
            <a:ext cx="3807405" cy="47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7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45758-17A3-CA78-82D5-15B3DAA8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68E136C-5019-90F9-8E34-D8D948AE7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71" y="1021813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Mockups del Sistema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2922EE-3E04-8B6D-B7A9-B756AFA333C1}"/>
              </a:ext>
            </a:extLst>
          </p:cNvPr>
          <p:cNvSpPr txBox="1"/>
          <p:nvPr/>
        </p:nvSpPr>
        <p:spPr>
          <a:xfrm>
            <a:off x="528057" y="1589315"/>
            <a:ext cx="11091672" cy="4572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1F4E79"/>
                </a:solidFill>
              </a:rPr>
              <a:t>Landing «Elige </a:t>
            </a:r>
            <a:r>
              <a:rPr sz="1500" b="1" dirty="0" err="1">
                <a:solidFill>
                  <a:srgbClr val="1F4E79"/>
                </a:solidFill>
              </a:rPr>
              <a:t>tu</a:t>
            </a:r>
            <a:r>
              <a:rPr sz="1500" b="1" dirty="0">
                <a:solidFill>
                  <a:srgbClr val="1F4E79"/>
                </a:solidFill>
              </a:rPr>
              <a:t> </a:t>
            </a:r>
            <a:r>
              <a:rPr sz="1500" b="1" dirty="0" err="1">
                <a:solidFill>
                  <a:srgbClr val="1F4E79"/>
                </a:solidFill>
              </a:rPr>
              <a:t>lado</a:t>
            </a:r>
            <a:r>
              <a:rPr sz="1500" b="1" dirty="0">
                <a:solidFill>
                  <a:srgbClr val="1F4E79"/>
                </a:solidFill>
              </a:rPr>
              <a:t>» — </a:t>
            </a:r>
            <a:r>
              <a:rPr sz="1500" b="1" dirty="0" err="1">
                <a:solidFill>
                  <a:srgbClr val="1F4E79"/>
                </a:solidFill>
              </a:rPr>
              <a:t>los</a:t>
            </a:r>
            <a:r>
              <a:rPr sz="1500" b="1" dirty="0">
                <a:solidFill>
                  <a:srgbClr val="1F4E79"/>
                </a:solidFill>
              </a:rPr>
              <a:t> dos </a:t>
            </a:r>
            <a:r>
              <a:rPr sz="1500" b="1" dirty="0" err="1">
                <a:solidFill>
                  <a:srgbClr val="1F4E79"/>
                </a:solidFill>
              </a:rPr>
              <a:t>lados</a:t>
            </a:r>
            <a:r>
              <a:rPr sz="1500" b="1" dirty="0">
                <a:solidFill>
                  <a:srgbClr val="1F4E79"/>
                </a:solidFill>
              </a:rPr>
              <a:t> del marketplace</a:t>
            </a:r>
            <a:endParaRPr lang="es-CL" dirty="0"/>
          </a:p>
        </p:txBody>
      </p:sp>
      <p:pic>
        <p:nvPicPr>
          <p:cNvPr id="6" name="Picture 5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960" y="2046515"/>
            <a:ext cx="7498079" cy="44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99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Hitos Importantes </a:t>
            </a:r>
          </a:p>
        </p:txBody>
      </p:sp>
      <p:graphicFrame>
        <p:nvGraphicFramePr>
          <p:cNvPr id="6" name="Google Shape;546;p23">
            <a:extLst>
              <a:ext uri="{FF2B5EF4-FFF2-40B4-BE49-F238E27FC236}">
                <a16:creationId xmlns:a16="http://schemas.microsoft.com/office/drawing/2014/main" id="{D286135F-8E02-DD11-B3AB-F14E68EF6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653273"/>
              </p:ext>
            </p:extLst>
          </p:nvPr>
        </p:nvGraphicFramePr>
        <p:xfrm>
          <a:off x="1708434" y="2356863"/>
          <a:ext cx="7525230" cy="2120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7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7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u="none" strike="noStrike" cap="none" dirty="0">
                          <a:solidFill>
                            <a:schemeClr val="tx1"/>
                          </a:solidFill>
                        </a:rPr>
                        <a:t>Nombre Fase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u="none" strike="noStrike" cap="none" dirty="0">
                          <a:solidFill>
                            <a:schemeClr val="tx1"/>
                          </a:solidFill>
                        </a:rPr>
                        <a:t>Fechas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Planificación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25-08 a 06-09-2026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Análisis y Diseño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25-08 a 06-09-2026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Desarrollo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08-09 a 20-11-2026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Pruebas y QA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21-11 a 04-12-2026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Implementación y Cierre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05-12 a 11-12-2026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553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</p:spPr>
        <p:txBody>
          <a:bodyPr>
            <a:normAutofit fontScale="90000"/>
          </a:bodyPr>
          <a:lstStyle/>
          <a:p>
            <a:r>
              <a:rPr lang="es-CL" dirty="0"/>
              <a:t>Costos por Fase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194560" y="173736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Horas hombre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Costo (CLP)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Planificación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$798.067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Análisis y Diseño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$1.960.024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Desarrollo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$7.039.068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Pruebas y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$1.140.028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Implementación y Cierre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$883.350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1.427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$11.820.537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194560" y="50292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E75B6"/>
                </a:solidFill>
              </a:rPr>
              <a:t>Precio final con margen de utilidad (60%): $18.912.859 CLP</a:t>
            </a:r>
          </a:p>
        </p:txBody>
      </p:sp>
    </p:spTree>
    <p:extLst>
      <p:ext uri="{BB962C8B-B14F-4D97-AF65-F5344CB8AC3E}">
        <p14:creationId xmlns:p14="http://schemas.microsoft.com/office/powerpoint/2010/main" val="380451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Tecnologías del Desarrollo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41252" y="1828016"/>
            <a:ext cx="10861319" cy="23083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>
                <a:solidFill>
                  <a:srgbClr val="333333"/>
                </a:solidFill>
              </a:rPr>
              <a:t>Arquitectura web en modelo de capas: dos frontends (backoffice y página pública) sobre una única API REST.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Frontend: HTML5, CSS y framework de JavaScript.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Backend: lenguaje orientado a objetos con API REST.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Base de datos: PostgreSQL.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</a:rPr>
              <a:t>•  Infraestructura: Git (control de versiones), Railway (despliegue) y Redis (sesiones, caché y colas).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>
                <a:solidFill>
                  <a:srgbClr val="333333"/>
                </a:solidFill>
              </a:rPr>
              <a:t>•  Integraciones: pasarela de pagos (sandbox) y servicio REST de indicadores (mindicador.cl).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88888"/>
                </a:solidFill>
              </a:rPr>
              <a:t>Nota: confirmar lenguajes, frameworks y versiones definitivas del equipo.</a:t>
            </a:r>
          </a:p>
        </p:txBody>
      </p:sp>
    </p:spTree>
    <p:extLst>
      <p:ext uri="{BB962C8B-B14F-4D97-AF65-F5344CB8AC3E}">
        <p14:creationId xmlns:p14="http://schemas.microsoft.com/office/powerpoint/2010/main" val="3484348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/>
          <p:cNvSpPr txBox="1">
            <a:spLocks/>
          </p:cNvSpPr>
          <p:nvPr/>
        </p:nvSpPr>
        <p:spPr>
          <a:xfrm>
            <a:off x="609558" y="699121"/>
            <a:ext cx="10515600" cy="1053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Conclusión  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996CBE9-7AF7-AD71-3333-A4F05AF40672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dirty="0" err="1">
                <a:solidFill>
                  <a:srgbClr val="333333"/>
                </a:solidFill>
              </a:rPr>
              <a:t>Quori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responde</a:t>
            </a:r>
            <a:r>
              <a:rPr sz="1300" b="0" dirty="0">
                <a:solidFill>
                  <a:srgbClr val="333333"/>
                </a:solidFill>
              </a:rPr>
              <a:t> a un </a:t>
            </a:r>
            <a:r>
              <a:rPr sz="1300" b="0" dirty="0" err="1">
                <a:solidFill>
                  <a:srgbClr val="333333"/>
                </a:solidFill>
              </a:rPr>
              <a:t>problema</a:t>
            </a:r>
            <a:r>
              <a:rPr sz="1300" b="0" dirty="0">
                <a:solidFill>
                  <a:srgbClr val="333333"/>
                </a:solidFill>
              </a:rPr>
              <a:t> real y </a:t>
            </a:r>
            <a:r>
              <a:rPr sz="1300" b="0" dirty="0" err="1">
                <a:solidFill>
                  <a:srgbClr val="333333"/>
                </a:solidFill>
              </a:rPr>
              <a:t>masivo</a:t>
            </a:r>
            <a:r>
              <a:rPr sz="1300" b="0" dirty="0">
                <a:solidFill>
                  <a:srgbClr val="333333"/>
                </a:solidFill>
              </a:rPr>
              <a:t>: </a:t>
            </a:r>
            <a:r>
              <a:rPr sz="1300" b="0" dirty="0" err="1">
                <a:solidFill>
                  <a:srgbClr val="333333"/>
                </a:solidFill>
              </a:rPr>
              <a:t>los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pequeños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negocios</a:t>
            </a:r>
            <a:r>
              <a:rPr sz="1300" b="0" dirty="0">
                <a:solidFill>
                  <a:srgbClr val="333333"/>
                </a:solidFill>
              </a:rPr>
              <a:t> de </a:t>
            </a:r>
            <a:r>
              <a:rPr sz="1300" b="0" dirty="0" err="1">
                <a:solidFill>
                  <a:srgbClr val="333333"/>
                </a:solidFill>
              </a:rPr>
              <a:t>atención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agendada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necesitan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una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herramienta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accesible</a:t>
            </a:r>
            <a:r>
              <a:rPr sz="1300" b="0" dirty="0">
                <a:solidFill>
                  <a:srgbClr val="333333"/>
                </a:solidFill>
              </a:rPr>
              <a:t> para </a:t>
            </a:r>
            <a:r>
              <a:rPr sz="1300" b="0" dirty="0" err="1">
                <a:solidFill>
                  <a:srgbClr val="333333"/>
                </a:solidFill>
              </a:rPr>
              <a:t>ordenar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su</a:t>
            </a:r>
            <a:r>
              <a:rPr sz="1300" b="0" dirty="0">
                <a:solidFill>
                  <a:srgbClr val="333333"/>
                </a:solidFill>
              </a:rPr>
              <a:t> agenda, </a:t>
            </a:r>
            <a:r>
              <a:rPr sz="1300" b="0" dirty="0" err="1">
                <a:solidFill>
                  <a:srgbClr val="333333"/>
                </a:solidFill>
              </a:rPr>
              <a:t>su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inventario</a:t>
            </a:r>
            <a:r>
              <a:rPr sz="1300" b="0" dirty="0">
                <a:solidFill>
                  <a:srgbClr val="333333"/>
                </a:solidFill>
              </a:rPr>
              <a:t> y sus </a:t>
            </a:r>
            <a:r>
              <a:rPr sz="1300" b="0" dirty="0" err="1">
                <a:solidFill>
                  <a:srgbClr val="333333"/>
                </a:solidFill>
              </a:rPr>
              <a:t>finanzas</a:t>
            </a:r>
            <a:r>
              <a:rPr sz="1300" b="0" dirty="0">
                <a:solidFill>
                  <a:srgbClr val="333333"/>
                </a:solidFill>
              </a:rPr>
              <a:t>, y para </a:t>
            </a:r>
            <a:r>
              <a:rPr sz="1300" b="0" dirty="0" err="1">
                <a:solidFill>
                  <a:srgbClr val="333333"/>
                </a:solidFill>
              </a:rPr>
              <a:t>que</a:t>
            </a:r>
            <a:r>
              <a:rPr sz="1300" b="0" dirty="0">
                <a:solidFill>
                  <a:srgbClr val="333333"/>
                </a:solidFill>
              </a:rPr>
              <a:t> sus </a:t>
            </a:r>
            <a:r>
              <a:rPr sz="1300" b="0" dirty="0" err="1">
                <a:solidFill>
                  <a:srgbClr val="333333"/>
                </a:solidFill>
              </a:rPr>
              <a:t>clientes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reserven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en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línea</a:t>
            </a:r>
            <a:r>
              <a:rPr sz="1300" b="0" dirty="0">
                <a:solidFill>
                  <a:srgbClr val="333333"/>
                </a:solidFill>
              </a:rPr>
              <a:t>. Su </a:t>
            </a:r>
            <a:r>
              <a:rPr sz="1300" b="0" dirty="0" err="1">
                <a:solidFill>
                  <a:srgbClr val="333333"/>
                </a:solidFill>
              </a:rPr>
              <a:t>modelo</a:t>
            </a:r>
            <a:r>
              <a:rPr sz="1300" b="0" dirty="0">
                <a:solidFill>
                  <a:srgbClr val="333333"/>
                </a:solidFill>
              </a:rPr>
              <a:t> de </a:t>
            </a:r>
            <a:r>
              <a:rPr sz="1300" b="0" dirty="0" err="1">
                <a:solidFill>
                  <a:srgbClr val="333333"/>
                </a:solidFill>
              </a:rPr>
              <a:t>datos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independiente</a:t>
            </a:r>
            <a:r>
              <a:rPr sz="1300" b="0" dirty="0">
                <a:solidFill>
                  <a:srgbClr val="333333"/>
                </a:solidFill>
              </a:rPr>
              <a:t> del </a:t>
            </a:r>
            <a:r>
              <a:rPr sz="1300" b="0" dirty="0" err="1">
                <a:solidFill>
                  <a:srgbClr val="333333"/>
                </a:solidFill>
              </a:rPr>
              <a:t>rubro</a:t>
            </a:r>
            <a:r>
              <a:rPr sz="1300" b="0" dirty="0">
                <a:solidFill>
                  <a:srgbClr val="333333"/>
                </a:solidFill>
              </a:rPr>
              <a:t> le </a:t>
            </a:r>
            <a:r>
              <a:rPr sz="1300" b="0" dirty="0" err="1">
                <a:solidFill>
                  <a:srgbClr val="333333"/>
                </a:solidFill>
              </a:rPr>
              <a:t>permite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servir</a:t>
            </a:r>
            <a:r>
              <a:rPr sz="1300" b="0" dirty="0">
                <a:solidFill>
                  <a:srgbClr val="333333"/>
                </a:solidFill>
              </a:rPr>
              <a:t> a </a:t>
            </a:r>
            <a:r>
              <a:rPr sz="1300" b="0" dirty="0" err="1">
                <a:solidFill>
                  <a:srgbClr val="333333"/>
                </a:solidFill>
              </a:rPr>
              <a:t>muchos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negocios</a:t>
            </a:r>
            <a:r>
              <a:rPr sz="1300" b="0" dirty="0">
                <a:solidFill>
                  <a:srgbClr val="333333"/>
                </a:solidFill>
              </a:rPr>
              <a:t> con </a:t>
            </a:r>
            <a:r>
              <a:rPr sz="1300" b="0" dirty="0" err="1">
                <a:solidFill>
                  <a:srgbClr val="333333"/>
                </a:solidFill>
              </a:rPr>
              <a:t>una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misma</a:t>
            </a:r>
            <a:r>
              <a:rPr sz="1300" b="0" dirty="0">
                <a:solidFill>
                  <a:srgbClr val="333333"/>
                </a:solidFill>
              </a:rPr>
              <a:t> base.</a:t>
            </a:r>
            <a:endParaRPr lang="es-CL"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333333"/>
                </a:solidFill>
              </a:rPr>
              <a:t>La </a:t>
            </a:r>
            <a:r>
              <a:rPr sz="1300" b="0" dirty="0" err="1">
                <a:solidFill>
                  <a:srgbClr val="333333"/>
                </a:solidFill>
              </a:rPr>
              <a:t>planificación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definida</a:t>
            </a:r>
            <a:r>
              <a:rPr sz="1300" b="0" dirty="0">
                <a:solidFill>
                  <a:srgbClr val="333333"/>
                </a:solidFill>
              </a:rPr>
              <a:t> —</a:t>
            </a:r>
            <a:r>
              <a:rPr sz="1300" b="0" dirty="0" err="1">
                <a:solidFill>
                  <a:srgbClr val="333333"/>
                </a:solidFill>
              </a:rPr>
              <a:t>cinco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fases</a:t>
            </a:r>
            <a:r>
              <a:rPr sz="1300" b="0" dirty="0">
                <a:solidFill>
                  <a:srgbClr val="333333"/>
                </a:solidFill>
              </a:rPr>
              <a:t>, seis sprints y 1.427 horas hombre entre seis </a:t>
            </a:r>
            <a:r>
              <a:rPr sz="1300" b="0" dirty="0" err="1">
                <a:solidFill>
                  <a:srgbClr val="333333"/>
                </a:solidFill>
              </a:rPr>
              <a:t>integrantes</a:t>
            </a:r>
            <a:r>
              <a:rPr sz="1300" b="0" dirty="0">
                <a:solidFill>
                  <a:srgbClr val="333333"/>
                </a:solidFill>
              </a:rPr>
              <a:t>— </a:t>
            </a:r>
            <a:r>
              <a:rPr sz="1300" b="0" dirty="0" err="1">
                <a:solidFill>
                  <a:srgbClr val="333333"/>
                </a:solidFill>
              </a:rPr>
              <a:t>demuestra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que</a:t>
            </a:r>
            <a:r>
              <a:rPr sz="1300" b="0" dirty="0">
                <a:solidFill>
                  <a:srgbClr val="333333"/>
                </a:solidFill>
              </a:rPr>
              <a:t> el </a:t>
            </a:r>
            <a:r>
              <a:rPr sz="1300" b="0" dirty="0" err="1">
                <a:solidFill>
                  <a:srgbClr val="333333"/>
                </a:solidFill>
              </a:rPr>
              <a:t>proyecto</a:t>
            </a:r>
            <a:r>
              <a:rPr sz="1300" b="0" dirty="0">
                <a:solidFill>
                  <a:srgbClr val="333333"/>
                </a:solidFill>
              </a:rPr>
              <a:t> es </a:t>
            </a:r>
            <a:r>
              <a:rPr sz="1300" b="0" dirty="0" err="1">
                <a:solidFill>
                  <a:srgbClr val="333333"/>
                </a:solidFill>
              </a:rPr>
              <a:t>factible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dentro</a:t>
            </a:r>
            <a:r>
              <a:rPr sz="1300" b="0" dirty="0">
                <a:solidFill>
                  <a:srgbClr val="333333"/>
                </a:solidFill>
              </a:rPr>
              <a:t> del </a:t>
            </a:r>
            <a:r>
              <a:rPr sz="1300" b="0" dirty="0" err="1">
                <a:solidFill>
                  <a:srgbClr val="333333"/>
                </a:solidFill>
              </a:rPr>
              <a:t>período</a:t>
            </a:r>
            <a:r>
              <a:rPr sz="1300" b="0" dirty="0">
                <a:solidFill>
                  <a:srgbClr val="333333"/>
                </a:solidFill>
              </a:rPr>
              <a:t> </a:t>
            </a:r>
            <a:r>
              <a:rPr sz="1300" b="0" dirty="0" err="1">
                <a:solidFill>
                  <a:srgbClr val="333333"/>
                </a:solidFill>
              </a:rPr>
              <a:t>académico</a:t>
            </a:r>
            <a:r>
              <a:rPr sz="1300" b="0" dirty="0">
                <a:solidFill>
                  <a:srgbClr val="333333"/>
                </a:solidFill>
              </a:rPr>
              <a:t>, e integra las </a:t>
            </a:r>
            <a:r>
              <a:rPr sz="1300" b="0" dirty="0" err="1">
                <a:solidFill>
                  <a:srgbClr val="333333"/>
                </a:solidFill>
              </a:rPr>
              <a:t>competencias</a:t>
            </a:r>
            <a:r>
              <a:rPr sz="1300" b="0" dirty="0">
                <a:solidFill>
                  <a:srgbClr val="333333"/>
                </a:solidFill>
              </a:rPr>
              <a:t> del </a:t>
            </a:r>
            <a:r>
              <a:rPr sz="1300" b="0" dirty="0" err="1">
                <a:solidFill>
                  <a:srgbClr val="333333"/>
                </a:solidFill>
              </a:rPr>
              <a:t>perfil</a:t>
            </a:r>
            <a:r>
              <a:rPr sz="1300" b="0" dirty="0">
                <a:solidFill>
                  <a:srgbClr val="333333"/>
                </a:solidFill>
              </a:rPr>
              <a:t> de </a:t>
            </a:r>
            <a:r>
              <a:rPr sz="1300" b="0" dirty="0" err="1">
                <a:solidFill>
                  <a:srgbClr val="333333"/>
                </a:solidFill>
              </a:rPr>
              <a:t>egreso</a:t>
            </a:r>
            <a:r>
              <a:rPr sz="1300" b="0" dirty="0">
                <a:solidFill>
                  <a:srgbClr val="333333"/>
                </a:solidFill>
              </a:rPr>
              <a:t>: </a:t>
            </a:r>
            <a:r>
              <a:rPr sz="1300" b="0" dirty="0" err="1">
                <a:solidFill>
                  <a:srgbClr val="333333"/>
                </a:solidFill>
              </a:rPr>
              <a:t>gestión</a:t>
            </a:r>
            <a:r>
              <a:rPr sz="1300" b="0" dirty="0">
                <a:solidFill>
                  <a:srgbClr val="333333"/>
                </a:solidFill>
              </a:rPr>
              <a:t> de </a:t>
            </a:r>
            <a:r>
              <a:rPr sz="1300" b="0" dirty="0" err="1">
                <a:solidFill>
                  <a:srgbClr val="333333"/>
                </a:solidFill>
              </a:rPr>
              <a:t>proyectos</a:t>
            </a:r>
            <a:r>
              <a:rPr sz="1300" b="0" dirty="0">
                <a:solidFill>
                  <a:srgbClr val="333333"/>
                </a:solidFill>
              </a:rPr>
              <a:t>, </a:t>
            </a:r>
            <a:r>
              <a:rPr sz="1300" b="0" dirty="0" err="1">
                <a:solidFill>
                  <a:srgbClr val="333333"/>
                </a:solidFill>
              </a:rPr>
              <a:t>modelamiento</a:t>
            </a:r>
            <a:r>
              <a:rPr sz="1300" b="0" dirty="0">
                <a:solidFill>
                  <a:srgbClr val="333333"/>
                </a:solidFill>
              </a:rPr>
              <a:t> de </a:t>
            </a:r>
            <a:r>
              <a:rPr sz="1300" b="0" dirty="0" err="1">
                <a:solidFill>
                  <a:srgbClr val="333333"/>
                </a:solidFill>
              </a:rPr>
              <a:t>datos</a:t>
            </a:r>
            <a:r>
              <a:rPr sz="1300" b="0" dirty="0">
                <a:solidFill>
                  <a:srgbClr val="333333"/>
                </a:solidFill>
              </a:rPr>
              <a:t>, </a:t>
            </a:r>
            <a:r>
              <a:rPr sz="1300" b="0" dirty="0" err="1">
                <a:solidFill>
                  <a:srgbClr val="333333"/>
                </a:solidFill>
              </a:rPr>
              <a:t>desarrollo</a:t>
            </a:r>
            <a:r>
              <a:rPr sz="1300" b="0" dirty="0">
                <a:solidFill>
                  <a:srgbClr val="333333"/>
                </a:solidFill>
              </a:rPr>
              <a:t> de software y </a:t>
            </a:r>
            <a:r>
              <a:rPr sz="1300" b="0" dirty="0" err="1">
                <a:solidFill>
                  <a:srgbClr val="333333"/>
                </a:solidFill>
              </a:rPr>
              <a:t>pruebas</a:t>
            </a:r>
            <a:r>
              <a:rPr sz="1300" b="0" dirty="0">
                <a:solidFill>
                  <a:srgbClr val="333333"/>
                </a:solidFill>
              </a:rPr>
              <a:t> de </a:t>
            </a:r>
            <a:r>
              <a:rPr sz="1300" b="0" dirty="0" err="1">
                <a:solidFill>
                  <a:srgbClr val="333333"/>
                </a:solidFill>
              </a:rPr>
              <a:t>validación</a:t>
            </a:r>
            <a:r>
              <a:rPr sz="1300" b="0" dirty="0">
                <a:solidFill>
                  <a:srgbClr val="33333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19331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906</Words>
  <Application>Microsoft Office PowerPoint</Application>
  <PresentationFormat>Panorámica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Presentación Portafolio de Título Quori — Plataforma de gestión para negocios de atención agendada</vt:lpstr>
      <vt:lpstr>Presentación de PowerPoint</vt:lpstr>
      <vt:lpstr>Descripción del Proyecto</vt:lpstr>
      <vt:lpstr>Presentación de PowerPoint</vt:lpstr>
      <vt:lpstr>Alcances</vt:lpstr>
      <vt:lpstr>Usuarios</vt:lpstr>
      <vt:lpstr>Lista de Requerimientos</vt:lpstr>
      <vt:lpstr>Mockups del Sistema</vt:lpstr>
      <vt:lpstr>Mockups del Sistema</vt:lpstr>
      <vt:lpstr>Hitos Importantes </vt:lpstr>
      <vt:lpstr>Costos por Fase </vt:lpstr>
      <vt:lpstr>Tecnologías del Desarrollo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Título “Título del Caso”</dc:title>
  <dc:creator>Sala_</dc:creator>
  <cp:lastModifiedBy>MELISA SCARLETT QUEZADA CORTES</cp:lastModifiedBy>
  <cp:revision>89</cp:revision>
  <dcterms:created xsi:type="dcterms:W3CDTF">2015-07-01T15:45:01Z</dcterms:created>
  <dcterms:modified xsi:type="dcterms:W3CDTF">2026-09-10T00:10:11Z</dcterms:modified>
</cp:coreProperties>
</file>